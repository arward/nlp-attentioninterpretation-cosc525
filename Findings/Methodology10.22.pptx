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5" r:id="rId4"/>
    <p:sldId id="261" r:id="rId5"/>
    <p:sldId id="262" r:id="rId6"/>
    <p:sldId id="266" r:id="rId7"/>
    <p:sldId id="267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100" d="100"/>
          <a:sy n="100" d="100"/>
        </p:scale>
        <p:origin x="954" y="1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E705C-B088-54D3-62C7-406DF0AB79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52D0D3-B1EC-096D-917A-AAEAE1C4EE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5E098-420B-A8B3-50A0-EFCF096F5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8A0C3-EB5A-4344-8CE5-D54DA37B941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E2AD2-F05A-CD8D-6E2F-5DA03E696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FDF68-3286-BB75-7BF9-EFBC7A900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FD343-D075-442D-B5F2-17EF776BF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51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DE5E0-D576-421F-3E2F-925507618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66188-3A69-9C6A-5315-0CDFF8A8A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38D18-FE3D-9BE1-9B93-06662D3CD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8A0C3-EB5A-4344-8CE5-D54DA37B941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872EC-4F8F-61FA-BC06-9F15F6359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68C0C-884B-C99A-48F8-531379F86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FD343-D075-442D-B5F2-17EF776BF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258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4B249-D667-864A-A8E4-065F5FC32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2F83D-2473-41DB-46CC-E790A5B38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9309A-F820-1690-51B7-3A643E46E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8A0C3-EB5A-4344-8CE5-D54DA37B941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8340B-FD5E-F71F-5564-40491FED2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67526-DE35-39D6-18C2-D8AF49183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FD343-D075-442D-B5F2-17EF776BF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17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70996-5EA4-FB34-FF98-9F1511233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1385-E07C-D1CF-ED5B-3E5D486768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5AE95D-404E-4F80-4C79-E19B67F6B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69F93-FFF1-4F7A-7055-5E1C46535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8A0C3-EB5A-4344-8CE5-D54DA37B941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9F73B-C031-D758-6F8E-2D3F533E7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FAAEC-BEDD-60B3-6BE0-5536BD453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FD343-D075-442D-B5F2-17EF776BF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815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18456-9685-BD16-8038-0025EA899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9FCA5-F041-0B63-40A1-4ACF019CB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8556F0-7C59-EA84-C1AD-E8922CAE6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44D2EB-C2B8-5CB2-0614-9EFFD3E501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31C12A-AF29-C4BD-D9D2-675CE5116D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F0E4F8-C60E-FC4D-5A47-C678121B0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8A0C3-EB5A-4344-8CE5-D54DA37B941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CD2F51-F6B2-2457-1C52-9FB6A8C49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36D27C-108C-687E-BDED-BF558B75C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FD343-D075-442D-B5F2-17EF776BF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578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30844-C70D-9B86-23EE-C17F6B9CD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5B615D-31D5-480F-7EB2-60B7ECD2E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8A0C3-EB5A-4344-8CE5-D54DA37B941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ADB9DD-0811-FF50-EC92-A71A3EF9D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2492BF-EE94-7216-6BE3-0A8F1C557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FD343-D075-442D-B5F2-17EF776BF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60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FF5EE8-6C94-A4EA-2D9C-3CB835DF1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8A0C3-EB5A-4344-8CE5-D54DA37B941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78713C-47D3-B11D-0053-F43D5624B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79A7A-8DA3-7B5D-F230-A1E9D8A0F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FD343-D075-442D-B5F2-17EF776BF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979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D1176-87EE-717B-D8FF-CE3CB99B1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02330-733F-EDA0-D872-72728AC25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165360-8E01-E0A1-F04C-AB69FF4433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65C63-CE5B-95B7-7005-FF5B2956F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8A0C3-EB5A-4344-8CE5-D54DA37B941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6BCD9-D759-7668-0BE1-B877AE02F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F7065-08F2-EC64-5331-DF9C222DD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FD343-D075-442D-B5F2-17EF776BF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56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53443-B8CF-605F-B765-ACE2DBFE2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053DE7-95EE-1FD5-7A1F-7799AB180D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C8A53B-9395-3D4E-5372-CD9B4F997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12D0C-F11E-805E-5664-58D34ACAE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8A0C3-EB5A-4344-8CE5-D54DA37B941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DB499-F0E6-2502-6C92-92295BCDA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2CC0D-0AA6-43B3-9909-86C12C4A7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FD343-D075-442D-B5F2-17EF776BF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507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CF6F0-D962-598D-C8B4-2278CF77C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8A2A2-2938-93FA-CD41-7A246C52D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97C42-15F0-4CF1-7E5F-544931134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8A0C3-EB5A-4344-8CE5-D54DA37B941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F5399-ED86-C252-3F73-2F542485C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2F6B9-9F87-A5FB-0712-CF940F38C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FD343-D075-442D-B5F2-17EF776BF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867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F3E007-1C11-54AF-A9E3-D734954127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6E8114-A17B-E2D3-2441-7A8241075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36EE9-F605-D22A-D65D-33D5BA886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8A0C3-EB5A-4344-8CE5-D54DA37B941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593F1-6883-6BAE-B2EF-0CEA505BE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4D263-F8A6-127B-AC32-39F302E4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FD343-D075-442D-B5F2-17EF776BF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17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B02F4D-EA85-27D0-B45B-2C4D503EA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3E232-D073-887C-A018-CAC9F4759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09863-FEEE-CBDD-EDD3-B1715E9D51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58A0C3-EB5A-4344-8CE5-D54DA37B941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F93D6-A1D4-B2C9-A2FC-DEE7A8E860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17F7A-7FF1-08C9-E215-229B9ED324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1FD343-D075-442D-B5F2-17EF776BF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04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5F81A-1B46-C09D-D8E7-6CDE9F69B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3F51A6-D322-03B7-EE1F-773A96584162}"/>
              </a:ext>
            </a:extLst>
          </p:cNvPr>
          <p:cNvSpPr txBox="1"/>
          <p:nvPr/>
        </p:nvSpPr>
        <p:spPr>
          <a:xfrm>
            <a:off x="375158" y="519281"/>
            <a:ext cx="11067542" cy="5057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1. Introduction &amp; Motivation</a:t>
            </a:r>
          </a:p>
          <a:p>
            <a:pPr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Transformer-based language models (e.g., BERT, GPT-2, T5) rely on multi-head self-attention, which plays a crucial role in representing linguistic structures and cross-sentence relations.</a:t>
            </a:r>
          </a:p>
          <a:p>
            <a:pPr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Existing visualization tools such as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BertViz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Vig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2019) allow researchers to “see” attention but not to interpret the functional role of each head in a systematic way.</a:t>
            </a:r>
          </a:p>
          <a:p>
            <a:pPr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tasks involving sentence pairs (e.g., Natural Language Inference), attention patterns, especially in cross-sentence heads, may encode semantic alignment and reasoning cues.</a:t>
            </a:r>
          </a:p>
          <a:p>
            <a:pPr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project aims to design and prototype a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quantitative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method for interpreting the role of attention heads in BERT.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E2621A-B562-6FA4-6B13-60493C6CB0BC}"/>
              </a:ext>
            </a:extLst>
          </p:cNvPr>
          <p:cNvSpPr txBox="1"/>
          <p:nvPr/>
        </p:nvSpPr>
        <p:spPr>
          <a:xfrm>
            <a:off x="375158" y="5969387"/>
            <a:ext cx="11686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move from “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visualizing attention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” → “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categorizing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attention heads” via interpretable metrics.</a:t>
            </a:r>
          </a:p>
        </p:txBody>
      </p:sp>
    </p:spTree>
    <p:extLst>
      <p:ext uri="{BB962C8B-B14F-4D97-AF65-F5344CB8AC3E}">
        <p14:creationId xmlns:p14="http://schemas.microsoft.com/office/powerpoint/2010/main" val="3954211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5096A-7605-FA2A-A19D-0B7E88E58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0CE776-F4EE-3064-7F98-FF747F8AD688}"/>
              </a:ext>
            </a:extLst>
          </p:cNvPr>
          <p:cNvSpPr txBox="1"/>
          <p:nvPr/>
        </p:nvSpPr>
        <p:spPr>
          <a:xfrm>
            <a:off x="569722" y="294422"/>
            <a:ext cx="10644378" cy="4267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2. Research Objective</a:t>
            </a:r>
          </a:p>
          <a:p>
            <a:pPr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Quantify and categorize attention heads in BERT using interpretable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Investigate how different types of heads (local vs global vs cross) behave under different sentence pair relations (e.g., entailment, contradiction, neutral).</a:t>
            </a:r>
          </a:p>
          <a:p>
            <a:pPr>
              <a:lnSpc>
                <a:spcPct val="114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3. Research Questions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4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Which attention heads are responsible for global semantic aggregation?</a:t>
            </a:r>
          </a:p>
          <a:p>
            <a:pPr>
              <a:lnSpc>
                <a:spcPct val="114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Which heads focus on local dependencies?</a:t>
            </a:r>
          </a:p>
          <a:p>
            <a:pPr>
              <a:lnSpc>
                <a:spcPct val="114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Which heads activate during cross-sentence alignment, and how do they vary by label type (entailment vs neutral vs contradiction)?</a:t>
            </a:r>
          </a:p>
        </p:txBody>
      </p:sp>
    </p:spTree>
    <p:extLst>
      <p:ext uri="{BB962C8B-B14F-4D97-AF65-F5344CB8AC3E}">
        <p14:creationId xmlns:p14="http://schemas.microsoft.com/office/powerpoint/2010/main" val="3747515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F0AAD-6807-9D2D-44F1-4246635C1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D59C8E-45CD-3C7A-6A73-8F045FA97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9067"/>
            <a:ext cx="12192000" cy="58398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643E13-AFD3-517A-476E-493AA9B52AE1}"/>
              </a:ext>
            </a:extLst>
          </p:cNvPr>
          <p:cNvSpPr txBox="1"/>
          <p:nvPr/>
        </p:nvSpPr>
        <p:spPr>
          <a:xfrm>
            <a:off x="0" y="184701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Reference: What Does BERT Look At? An Analysis of BERT’s Attention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507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1F2E-EB11-17B7-CAA3-FC0038D7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AF97DE-E23D-B589-3214-EAAFBF423D56}"/>
                  </a:ext>
                </a:extLst>
              </p:cNvPr>
              <p:cNvSpPr txBox="1"/>
              <p:nvPr/>
            </p:nvSpPr>
            <p:spPr>
              <a:xfrm>
                <a:off x="118491" y="131167"/>
                <a:ext cx="9745218" cy="64633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4. Methodology</a:t>
                </a:r>
              </a:p>
              <a:p>
                <a:pPr>
                  <a:buNone/>
                </a:pPr>
                <a:endParaRPr 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4.1 Model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Base model: </a:t>
                </a: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BERT-base-uncased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Pre-trained, no fine-tuning required</a:t>
                </a:r>
              </a:p>
              <a:p>
                <a:pPr>
                  <a:buNone/>
                </a:pPr>
                <a:endParaRPr 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4.2 Dataset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SNLI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(Stanford Natural Language Inference) dataset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Labels: entailment / contradiction / neutral</a:t>
                </a:r>
              </a:p>
              <a:p>
                <a:pPr>
                  <a:buNone/>
                </a:pPr>
                <a:endParaRPr 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4.3 Metrics Definition</a:t>
                </a:r>
              </a:p>
              <a:p>
                <a:pPr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For each layer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and head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Global Aggregation Score (CLS)</a:t>
                </a:r>
                <a:b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CLS</m:t>
                    </m:r>
                    <m:d>
                      <m:dPr>
                        <m:sepChr m:val=","/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ar-AE" b="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mean</m:t>
                    </m:r>
                    <m:r>
                      <m:rPr>
                        <m:nor/>
                      </m:rPr>
                      <a:rPr lang="en-US" b="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attention</m:t>
                    </m:r>
                    <m:r>
                      <m:rPr>
                        <m:nor/>
                      </m:rPr>
                      <a:rPr lang="en-US" b="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weight</m:t>
                    </m:r>
                    <m:r>
                      <m:rPr>
                        <m:nor/>
                      </m:rPr>
                      <a:rPr lang="en-US" b="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to</m:t>
                    </m:r>
                    <m:r>
                      <m:rPr>
                        <m:nor/>
                      </m:rPr>
                      <a:rPr lang="en-US" b="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[</m:t>
                    </m:r>
                    <m:r>
                      <m:rPr>
                        <m:nor/>
                      </m:rPr>
                      <a:rPr lang="en-US" b="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CLS</m:t>
                    </m:r>
                    <m:r>
                      <m:rPr>
                        <m:nor/>
                      </m:rPr>
                      <a:rPr lang="en-US" b="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Cross-Sentence Attention Score</a:t>
                </a:r>
                <a:b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Cross</m:t>
                    </m:r>
                    <m:d>
                      <m:dPr>
                        <m:sepChr m:val=","/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ar-AE" b="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mean</m:t>
                    </m:r>
                    <m:r>
                      <m:rPr>
                        <m:nor/>
                      </m:rPr>
                      <a:rPr lang="en-US" b="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attention</m:t>
                    </m:r>
                    <m:r>
                      <m:rPr>
                        <m:nor/>
                      </m:rPr>
                      <a:rPr lang="en-US" b="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weight</m:t>
                    </m:r>
                    <m:r>
                      <m:rPr>
                        <m:nor/>
                      </m:rPr>
                      <a:rPr lang="en-US" b="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from</m:t>
                    </m:r>
                    <m:r>
                      <m:rPr>
                        <m:nor/>
                      </m:rPr>
                      <a:rPr lang="en-US" b="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Sentence</m:t>
                    </m:r>
                    <m:r>
                      <m:rPr>
                        <m:nor/>
                      </m:rPr>
                      <a:rPr lang="en-US" b="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A</m:t>
                    </m:r>
                    <m:r>
                      <m:rPr>
                        <m:nor/>
                      </m:rPr>
                      <a:rPr lang="en-US" b="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→ </m:t>
                    </m:r>
                    <m:r>
                      <m:rPr>
                        <m:nor/>
                      </m:rPr>
                      <a:rPr lang="en-US" b="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Sentence</m:t>
                    </m:r>
                    <m:r>
                      <m:rPr>
                        <m:nor/>
                      </m:rPr>
                      <a:rPr lang="en-US" b="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B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endParaRPr 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ar-AE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4.4 </a:t>
                </a: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Analysis Steps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Compute metrics for all </a:t>
                </a:r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 layers × 12 heads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Aggregate results by label type (entailment, contradiction, neutral).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Identify top-k heads for each metric.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Visualize using heatmaps and distribution plots.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Optionally cluster heads by functional behavior.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AF97DE-E23D-B589-3214-EAAFBF423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91" y="131167"/>
                <a:ext cx="9745218" cy="6463308"/>
              </a:xfrm>
              <a:prstGeom prst="rect">
                <a:avLst/>
              </a:prstGeom>
              <a:blipFill>
                <a:blip r:embed="rId2"/>
                <a:stretch>
                  <a:fillRect l="-563" t="-566" b="-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9989CAF-BCFB-A69B-EFFC-FDA38A707963}"/>
              </a:ext>
            </a:extLst>
          </p:cNvPr>
          <p:cNvSpPr txBox="1"/>
          <p:nvPr/>
        </p:nvSpPr>
        <p:spPr>
          <a:xfrm>
            <a:off x="7385050" y="529889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4.5 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BertViz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highlight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metric values for functional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3440870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72E98-13CC-288F-1D31-60BA7F7B9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9B2525-5158-0554-12B7-B98AA7957C25}"/>
              </a:ext>
            </a:extLst>
          </p:cNvPr>
          <p:cNvSpPr txBox="1"/>
          <p:nvPr/>
        </p:nvSpPr>
        <p:spPr>
          <a:xfrm>
            <a:off x="346075" y="289679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5. Proof of Concept (PoC)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 the proposed method on a small subset of SNLI (e.g., 50 examples per label)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Generate and compare: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Cross-sentence attention heatmaps for each label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CLS and Locality distributions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Top-head lists</a:t>
            </a:r>
          </a:p>
          <a:p>
            <a:pPr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 deliverables: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Heatmap: Mean A→B attention per label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Table: Top-5 heads by cross-score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Graph: CLS vs Locality scatter</a:t>
            </a:r>
          </a:p>
        </p:txBody>
      </p:sp>
    </p:spTree>
    <p:extLst>
      <p:ext uri="{BB962C8B-B14F-4D97-AF65-F5344CB8AC3E}">
        <p14:creationId xmlns:p14="http://schemas.microsoft.com/office/powerpoint/2010/main" val="3258925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E84FE-30FB-F245-E149-BEE929067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F39111-C087-000C-F968-6F7057334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14" y="542946"/>
            <a:ext cx="11628571" cy="3428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FE4770-49CB-7E2A-7501-15237CF8E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80" y="1214747"/>
            <a:ext cx="7876190" cy="49619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393938-B1E5-7F05-5054-C1C195648556}"/>
              </a:ext>
            </a:extLst>
          </p:cNvPr>
          <p:cNvSpPr txBox="1"/>
          <p:nvPr/>
        </p:nvSpPr>
        <p:spPr>
          <a:xfrm>
            <a:off x="8462131" y="148404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[CLS] aggregated info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34CBFD-AF09-5B7E-00FD-AAC247946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0595" y="2239149"/>
            <a:ext cx="2714286" cy="4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883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7F048-91F1-9B3C-A634-DC820EF12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C51641-80F1-D2B9-DC9F-D068A005B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07" y="223862"/>
            <a:ext cx="11114286" cy="3904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5824DA-E435-53E7-710F-3C161E0DD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97" y="733688"/>
            <a:ext cx="6361905" cy="42095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DFBB25-E400-D0C3-8C75-4329FBDA0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635" y="956547"/>
            <a:ext cx="3476190" cy="4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005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9B314-82C0-DAA3-5B87-29CF6937E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96F33C-2DE6-DF01-8A5D-6BB1ACB43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8047"/>
            <a:ext cx="6609524" cy="65619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75ABD69-06AB-2008-CE1B-E900DA42D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73" y="148047"/>
            <a:ext cx="6227653" cy="65619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A76415-21A4-4D1A-EECA-C4ECEFF43FAF}"/>
              </a:ext>
            </a:extLst>
          </p:cNvPr>
          <p:cNvSpPr txBox="1"/>
          <p:nvPr/>
        </p:nvSpPr>
        <p:spPr>
          <a:xfrm>
            <a:off x="-1358900" y="-436728"/>
            <a:ext cx="635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Clustering Attention Heads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733FF4-7072-0A5C-1783-244F6485F33D}"/>
              </a:ext>
            </a:extLst>
          </p:cNvPr>
          <p:cNvSpPr txBox="1"/>
          <p:nvPr/>
        </p:nvSpPr>
        <p:spPr>
          <a:xfrm>
            <a:off x="4340225" y="-498284"/>
            <a:ext cx="40537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i="0" u="none" strike="noStrike" baseline="0" dirty="0">
                <a:latin typeface="NimbusRomNo9L-Regu"/>
              </a:rPr>
              <a:t>attention dropout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763254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</TotalTime>
  <Words>449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NimbusRomNo9L-Regu</vt:lpstr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Zhong, Jingtao</dc:creator>
  <cp:lastModifiedBy>Zhong, Jingtao</cp:lastModifiedBy>
  <cp:revision>8</cp:revision>
  <dcterms:created xsi:type="dcterms:W3CDTF">2025-10-22T01:17:49Z</dcterms:created>
  <dcterms:modified xsi:type="dcterms:W3CDTF">2025-10-22T17:50:19Z</dcterms:modified>
</cp:coreProperties>
</file>